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Text 0"/>
          <p:cNvSpPr txBox="1"/>
          <p:nvPr/>
        </p:nvSpPr>
        <p:spPr>
          <a:xfrm>
            <a:off x="822960" y="2355434"/>
            <a:ext cx="10515601" cy="3183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latin typeface="Times New Roman"/>
                <a:ea typeface="Times New Roman"/>
                <a:cs typeface="Times New Roman"/>
                <a:sym typeface="Times New Roman"/>
              </a:defRPr>
            </a:lvl1pPr>
          </a:lstStyle>
          <a:p>
            <a:pPr/>
            <a:r>
              <a:t>INDIVIDUAL PROJECTS</a:t>
            </a:r>
          </a:p>
        </p:txBody>
      </p:sp>
      <p:sp>
        <p:nvSpPr>
          <p:cNvPr id="21" name="Text 2"/>
          <p:cNvSpPr txBox="1"/>
          <p:nvPr/>
        </p:nvSpPr>
        <p:spPr>
          <a:xfrm>
            <a:off x="841247" y="3300505"/>
            <a:ext cx="2743201"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Times New Roman"/>
                <a:ea typeface="Times New Roman"/>
                <a:cs typeface="Times New Roman"/>
                <a:sym typeface="Times New Roman"/>
              </a:defRPr>
            </a:lvl1pPr>
          </a:lstStyle>
          <a:p>
            <a:pPr/>
            <a:r>
              <a:t>Name                                    :</a:t>
            </a:r>
          </a:p>
        </p:txBody>
      </p:sp>
      <p:sp>
        <p:nvSpPr>
          <p:cNvPr id="22" name="Text 3"/>
          <p:cNvSpPr txBox="1"/>
          <p:nvPr/>
        </p:nvSpPr>
        <p:spPr>
          <a:xfrm>
            <a:off x="3657600" y="3300505"/>
            <a:ext cx="6858000"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latin typeface="Times New Roman"/>
                <a:ea typeface="Times New Roman"/>
                <a:cs typeface="Times New Roman"/>
                <a:sym typeface="Times New Roman"/>
              </a:defRPr>
            </a:lvl1pPr>
          </a:lstStyle>
          <a:p>
            <a:pPr/>
            <a:r>
              <a:t>Sujitra M</a:t>
            </a:r>
          </a:p>
        </p:txBody>
      </p:sp>
      <p:sp>
        <p:nvSpPr>
          <p:cNvPr id="23" name="Text 4"/>
          <p:cNvSpPr txBox="1"/>
          <p:nvPr/>
        </p:nvSpPr>
        <p:spPr>
          <a:xfrm>
            <a:off x="841247" y="3867433"/>
            <a:ext cx="2743201"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Times New Roman"/>
                <a:ea typeface="Times New Roman"/>
                <a:cs typeface="Times New Roman"/>
                <a:sym typeface="Times New Roman"/>
              </a:defRPr>
            </a:lvl1pPr>
          </a:lstStyle>
          <a:p>
            <a:pPr/>
            <a:r>
              <a:t>Register Number.                :</a:t>
            </a:r>
          </a:p>
        </p:txBody>
      </p:sp>
      <p:sp>
        <p:nvSpPr>
          <p:cNvPr id="24" name="Text 5"/>
          <p:cNvSpPr txBox="1"/>
          <p:nvPr/>
        </p:nvSpPr>
        <p:spPr>
          <a:xfrm>
            <a:off x="3657600" y="3867433"/>
            <a:ext cx="6858000"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latin typeface="Times New Roman"/>
                <a:ea typeface="Times New Roman"/>
                <a:cs typeface="Times New Roman"/>
                <a:sym typeface="Times New Roman"/>
              </a:defRPr>
            </a:lvl1pPr>
          </a:lstStyle>
          <a:p>
            <a:pPr/>
            <a:r>
              <a:t>25MAS1012</a:t>
            </a:r>
          </a:p>
        </p:txBody>
      </p:sp>
      <p:sp>
        <p:nvSpPr>
          <p:cNvPr id="25" name="Text 6"/>
          <p:cNvSpPr txBox="1"/>
          <p:nvPr/>
        </p:nvSpPr>
        <p:spPr>
          <a:xfrm>
            <a:off x="841247" y="4434361"/>
            <a:ext cx="2743201"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Times New Roman"/>
                <a:ea typeface="Times New Roman"/>
                <a:cs typeface="Times New Roman"/>
                <a:sym typeface="Times New Roman"/>
              </a:defRPr>
            </a:lvl1pPr>
          </a:lstStyle>
          <a:p>
            <a:pPr/>
            <a:r>
              <a:t>Institution                            :</a:t>
            </a:r>
          </a:p>
        </p:txBody>
      </p:sp>
      <p:sp>
        <p:nvSpPr>
          <p:cNvPr id="26" name="Text 7"/>
          <p:cNvSpPr txBox="1"/>
          <p:nvPr/>
        </p:nvSpPr>
        <p:spPr>
          <a:xfrm>
            <a:off x="3657600" y="4434361"/>
            <a:ext cx="6858000"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latin typeface="Times New Roman"/>
                <a:ea typeface="Times New Roman"/>
                <a:cs typeface="Times New Roman"/>
                <a:sym typeface="Times New Roman"/>
              </a:defRPr>
            </a:lvl1pPr>
          </a:lstStyle>
          <a:p>
            <a:pPr/>
            <a:r>
              <a:t>VIT Chennai</a:t>
            </a:r>
          </a:p>
        </p:txBody>
      </p:sp>
      <p:sp>
        <p:nvSpPr>
          <p:cNvPr id="27" name="Text 8"/>
          <p:cNvSpPr txBox="1"/>
          <p:nvPr/>
        </p:nvSpPr>
        <p:spPr>
          <a:xfrm>
            <a:off x="841247" y="5001289"/>
            <a:ext cx="2743201"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Times New Roman"/>
                <a:ea typeface="Times New Roman"/>
                <a:cs typeface="Times New Roman"/>
                <a:sym typeface="Times New Roman"/>
              </a:defRPr>
            </a:lvl1pPr>
          </a:lstStyle>
          <a:p>
            <a:pPr/>
            <a:r>
              <a:t>Course                                  :</a:t>
            </a:r>
          </a:p>
        </p:txBody>
      </p:sp>
      <p:sp>
        <p:nvSpPr>
          <p:cNvPr id="28" name="Text 9"/>
          <p:cNvSpPr txBox="1"/>
          <p:nvPr/>
        </p:nvSpPr>
        <p:spPr>
          <a:xfrm>
            <a:off x="3657600" y="5001289"/>
            <a:ext cx="6858000"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latin typeface="Times New Roman"/>
                <a:ea typeface="Times New Roman"/>
                <a:cs typeface="Times New Roman"/>
                <a:sym typeface="Times New Roman"/>
              </a:defRPr>
            </a:lvl1pPr>
          </a:lstStyle>
          <a:p>
            <a:pPr/>
            <a:r>
              <a:t>M.Tech AI &amp; DS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 name="Text 0"/>
          <p:cNvSpPr txBox="1"/>
          <p:nvPr/>
        </p:nvSpPr>
        <p:spPr>
          <a:xfrm>
            <a:off x="822960" y="496536"/>
            <a:ext cx="54864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latin typeface="Times New Roman"/>
                <a:ea typeface="Times New Roman"/>
                <a:cs typeface="Times New Roman"/>
                <a:sym typeface="Times New Roman"/>
              </a:defRPr>
            </a:lvl1pPr>
          </a:lstStyle>
          <a:p>
            <a:pPr/>
            <a:r>
              <a:t>PROJECT 1</a:t>
            </a:r>
          </a:p>
        </p:txBody>
      </p:sp>
      <p:sp>
        <p:nvSpPr>
          <p:cNvPr id="31" name="Text 1"/>
          <p:cNvSpPr txBox="1"/>
          <p:nvPr/>
        </p:nvSpPr>
        <p:spPr>
          <a:xfrm>
            <a:off x="822960" y="793460"/>
            <a:ext cx="10515601" cy="4156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latin typeface="Times New Roman"/>
                <a:ea typeface="Times New Roman"/>
                <a:cs typeface="Times New Roman"/>
                <a:sym typeface="Times New Roman"/>
              </a:defRPr>
            </a:lvl1pPr>
          </a:lstStyle>
          <a:p>
            <a:pPr/>
            <a:r>
              <a:t>ChangeGuard</a:t>
            </a:r>
          </a:p>
        </p:txBody>
      </p:sp>
      <p:sp>
        <p:nvSpPr>
          <p:cNvPr id="32" name="Text 2"/>
          <p:cNvSpPr txBox="1"/>
          <p:nvPr/>
        </p:nvSpPr>
        <p:spPr>
          <a:xfrm>
            <a:off x="822960" y="1474944"/>
            <a:ext cx="105156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i="1" sz="1400">
                <a:latin typeface="Times New Roman"/>
                <a:ea typeface="Times New Roman"/>
                <a:cs typeface="Times New Roman"/>
                <a:sym typeface="Times New Roman"/>
              </a:defRPr>
            </a:lvl1pPr>
          </a:lstStyle>
          <a:p>
            <a:pPr/>
            <a:r>
              <a:t>An Agentic, Evidence-Grounded Framework for Automated Risk Assessment and Approval Reasoning in Enterprise IT Change Management</a:t>
            </a:r>
          </a:p>
        </p:txBody>
      </p:sp>
      <p:sp>
        <p:nvSpPr>
          <p:cNvPr id="33" name="Text 3"/>
          <p:cNvSpPr txBox="1"/>
          <p:nvPr/>
        </p:nvSpPr>
        <p:spPr>
          <a:xfrm>
            <a:off x="822960" y="2176015"/>
            <a:ext cx="10515601" cy="219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atin typeface="Times New Roman"/>
                <a:ea typeface="Times New Roman"/>
                <a:cs typeface="Times New Roman"/>
                <a:sym typeface="Times New Roman"/>
              </a:defRPr>
            </a:lvl1pPr>
          </a:lstStyle>
          <a:p>
            <a:pPr/>
            <a:r>
              <a:t>PROBLEM STATEMENT</a:t>
            </a:r>
          </a:p>
        </p:txBody>
      </p:sp>
      <p:sp>
        <p:nvSpPr>
          <p:cNvPr id="34" name="Text 4"/>
          <p:cNvSpPr txBox="1"/>
          <p:nvPr/>
        </p:nvSpPr>
        <p:spPr>
          <a:xfrm>
            <a:off x="822960" y="2544347"/>
            <a:ext cx="10515601" cy="6811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500">
                <a:latin typeface="Times New Roman"/>
                <a:ea typeface="Times New Roman"/>
                <a:cs typeface="Times New Roman"/>
                <a:sym typeface="Times New Roman"/>
              </a:defRPr>
            </a:lvl1pPr>
          </a:lstStyle>
          <a:p>
            <a:pPr/>
            <a:r>
              <a:t>Every production change in a large IT organisation must clear a Change Advisory Board (CAB) under ITIL/ITSM. This review is manual, slow, and inconsistent. Low-risk changes are rubber-stamped while genuinely risky ones slip through, and poor change approval is a leading cause of major IT outages.</a:t>
            </a:r>
          </a:p>
        </p:txBody>
      </p:sp>
      <p:sp>
        <p:nvSpPr>
          <p:cNvPr id="35" name="Text 5"/>
          <p:cNvSpPr txBox="1"/>
          <p:nvPr/>
        </p:nvSpPr>
        <p:spPr>
          <a:xfrm>
            <a:off x="822960" y="3683456"/>
            <a:ext cx="10515601" cy="219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atin typeface="Times New Roman"/>
                <a:ea typeface="Times New Roman"/>
                <a:cs typeface="Times New Roman"/>
                <a:sym typeface="Times New Roman"/>
              </a:defRPr>
            </a:lvl1pPr>
          </a:lstStyle>
          <a:p>
            <a:pPr/>
            <a:r>
              <a:t>OBJECTIVES</a:t>
            </a:r>
          </a:p>
        </p:txBody>
      </p:sp>
      <p:sp>
        <p:nvSpPr>
          <p:cNvPr id="36" name="Text 6"/>
          <p:cNvSpPr txBox="1"/>
          <p:nvPr/>
        </p:nvSpPr>
        <p:spPr>
          <a:xfrm>
            <a:off x="914399" y="4181123"/>
            <a:ext cx="10332722" cy="12917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1200"/>
              </a:spcBef>
              <a:defRPr b="1" sz="1400">
                <a:latin typeface="Times New Roman"/>
                <a:ea typeface="Times New Roman"/>
                <a:cs typeface="Times New Roman"/>
                <a:sym typeface="Times New Roman"/>
              </a:defRPr>
            </a:pPr>
            <a:r>
              <a:t>•  Autonomous evidence gathering — </a:t>
            </a:r>
            <a:r>
              <a:rPr b="0"/>
              <a:t>an LLM agent plans and calls tools to pull similar past changes, incident history, and schedule conflicts.</a:t>
            </a:r>
          </a:p>
          <a:p>
            <a:pPr>
              <a:lnSpc>
                <a:spcPct val="104999"/>
              </a:lnSpc>
              <a:spcBef>
                <a:spcPts val="1200"/>
              </a:spcBef>
              <a:defRPr b="1" sz="1400">
                <a:latin typeface="Times New Roman"/>
                <a:ea typeface="Times New Roman"/>
                <a:cs typeface="Times New Roman"/>
                <a:sym typeface="Times New Roman"/>
              </a:defRPr>
            </a:pPr>
            <a:r>
              <a:t>•  Grounded risk reasoning — </a:t>
            </a:r>
            <a:r>
              <a:rPr b="0"/>
              <a:t>produce a risk score and an approve / review / reject recommendation, every claim cited to a retrieved source.</a:t>
            </a:r>
          </a:p>
          <a:p>
            <a:pPr>
              <a:lnSpc>
                <a:spcPct val="104999"/>
              </a:lnSpc>
              <a:spcBef>
                <a:spcPts val="1200"/>
              </a:spcBef>
              <a:defRPr b="1" sz="1400">
                <a:latin typeface="Times New Roman"/>
                <a:ea typeface="Times New Roman"/>
                <a:cs typeface="Times New Roman"/>
                <a:sym typeface="Times New Roman"/>
              </a:defRPr>
            </a:pPr>
            <a:r>
              <a:t>•  Auditable, verifiable output — </a:t>
            </a:r>
            <a:r>
              <a:rPr b="0"/>
              <a:t>a verification layer confirms each justification is supported by evidence, not hallucinated.</a:t>
            </a:r>
          </a:p>
          <a:p>
            <a:pPr>
              <a:lnSpc>
                <a:spcPct val="104999"/>
              </a:lnSpc>
              <a:spcBef>
                <a:spcPts val="1200"/>
              </a:spcBef>
              <a:defRPr b="1" sz="1400">
                <a:latin typeface="Times New Roman"/>
                <a:ea typeface="Times New Roman"/>
                <a:cs typeface="Times New Roman"/>
                <a:sym typeface="Times New Roman"/>
              </a:defRPr>
            </a:pPr>
            <a:r>
              <a:t>•  Benchmark the task — </a:t>
            </a:r>
            <a:r>
              <a:rPr b="0"/>
              <a:t>build a labelled synthetic CAB dataset and metrics, the first evaluation setup for this problem.</a:t>
            </a:r>
          </a:p>
        </p:txBody>
      </p:sp>
      <p:sp>
        <p:nvSpPr>
          <p:cNvPr id="37" name="Text 7"/>
          <p:cNvSpPr txBox="1"/>
          <p:nvPr/>
        </p:nvSpPr>
        <p:spPr>
          <a:xfrm>
            <a:off x="11429999" y="6400226"/>
            <a:ext cx="548642"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latin typeface="Times New Roman"/>
                <a:ea typeface="Times New Roman"/>
                <a:cs typeface="Times New Roman"/>
                <a:sym typeface="Times New Roman"/>
              </a:defRPr>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822960" y="496536"/>
            <a:ext cx="73152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latin typeface="Times New Roman"/>
                <a:ea typeface="Times New Roman"/>
                <a:cs typeface="Times New Roman"/>
                <a:sym typeface="Times New Roman"/>
              </a:defRPr>
            </a:lvl1pPr>
          </a:lstStyle>
          <a:p>
            <a:pPr/>
            <a:r>
              <a:t>PROJECT 1 — CHANGEGUARD</a:t>
            </a:r>
          </a:p>
        </p:txBody>
      </p:sp>
      <p:sp>
        <p:nvSpPr>
          <p:cNvPr id="40" name="Text 1"/>
          <p:cNvSpPr txBox="1"/>
          <p:nvPr/>
        </p:nvSpPr>
        <p:spPr>
          <a:xfrm>
            <a:off x="822960" y="813432"/>
            <a:ext cx="10515601" cy="3299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latin typeface="Times New Roman"/>
                <a:ea typeface="Times New Roman"/>
                <a:cs typeface="Times New Roman"/>
                <a:sym typeface="Times New Roman"/>
              </a:defRPr>
            </a:lvl1pPr>
          </a:lstStyle>
          <a:p>
            <a:pPr/>
            <a:r>
              <a:t>DATASET, TECHNICAL STACK &amp; EXPECTED OUTCOMES</a:t>
            </a:r>
          </a:p>
        </p:txBody>
      </p:sp>
      <p:sp>
        <p:nvSpPr>
          <p:cNvPr id="41" name="Text 2"/>
          <p:cNvSpPr txBox="1"/>
          <p:nvPr/>
        </p:nvSpPr>
        <p:spPr>
          <a:xfrm>
            <a:off x="822960" y="1441432"/>
            <a:ext cx="5486401" cy="2078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DATASET</a:t>
            </a:r>
          </a:p>
        </p:txBody>
      </p:sp>
      <p:sp>
        <p:nvSpPr>
          <p:cNvPr id="42" name="Text 3"/>
          <p:cNvSpPr txBox="1"/>
          <p:nvPr/>
        </p:nvSpPr>
        <p:spPr>
          <a:xfrm>
            <a:off x="822959" y="1947287"/>
            <a:ext cx="7040882" cy="8528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8000"/>
              </a:lnSpc>
              <a:defRPr b="1" sz="1300">
                <a:latin typeface="Times New Roman"/>
                <a:ea typeface="Times New Roman"/>
                <a:cs typeface="Times New Roman"/>
                <a:sym typeface="Times New Roman"/>
              </a:defRPr>
            </a:pPr>
            <a:r>
              <a:t>Self-generated synthetic CAB dataset. </a:t>
            </a:r>
            <a:r>
              <a:rPr b="0"/>
              <a:t>Real CAB records are confidential, so a few hundred change records (system, type, window, rollback) are LLM-generated then hand-curated, each labelled with an outcome (success / failure / incident). Field structure follows public ITSM / ServiceNow schemas so cases stay realistic, with deliberate hard examples where low-risk-looking changes fail.</a:t>
            </a:r>
          </a:p>
        </p:txBody>
      </p:sp>
      <p:sp>
        <p:nvSpPr>
          <p:cNvPr id="43" name="Text 4"/>
          <p:cNvSpPr txBox="1"/>
          <p:nvPr/>
        </p:nvSpPr>
        <p:spPr>
          <a:xfrm>
            <a:off x="822960" y="3325096"/>
            <a:ext cx="5486401" cy="2078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TECHNICAL STACK</a:t>
            </a:r>
          </a:p>
        </p:txBody>
      </p:sp>
      <p:graphicFrame>
        <p:nvGraphicFramePr>
          <p:cNvPr id="44" name="Table 0"/>
          <p:cNvGraphicFramePr/>
          <p:nvPr/>
        </p:nvGraphicFramePr>
        <p:xfrm>
          <a:off x="822960" y="3789616"/>
          <a:ext cx="7040881" cy="217627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3749040"/>
              </a:tblGrid>
              <a:tr h="310896">
                <a:tc>
                  <a:txBody>
                    <a:bodyPr/>
                    <a:lstStyle/>
                    <a:p>
                      <a:pPr algn="l">
                        <a:defRPr sz="1800"/>
                      </a:pPr>
                      <a:r>
                        <a:rPr b="1" sz="1100">
                          <a:solidFill>
                            <a:srgbClr val="FFFFFF"/>
                          </a:solidFill>
                          <a:latin typeface="Times New Roman"/>
                          <a:ea typeface="Times New Roman"/>
                          <a:cs typeface="Times New Roman"/>
                          <a:sym typeface="Times New Roman"/>
                        </a:rPr>
                        <a:t>Tool / Language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000000"/>
                    </a:solidFill>
                  </a:tcPr>
                </a:tc>
                <a:tc>
                  <a:txBody>
                    <a:bodyPr/>
                    <a:lstStyle/>
                    <a:p>
                      <a:pPr algn="l">
                        <a:defRPr sz="1800"/>
                      </a:pPr>
                      <a:r>
                        <a:rPr b="1" sz="1100">
                          <a:solidFill>
                            <a:srgbClr val="FFFFFF"/>
                          </a:solidFill>
                          <a:latin typeface="Times New Roman"/>
                          <a:ea typeface="Times New Roman"/>
                          <a:cs typeface="Times New Roman"/>
                          <a:sym typeface="Times New Roman"/>
                        </a:rPr>
                        <a:t>Usage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000000"/>
                    </a:solidFill>
                  </a:tcPr>
                </a:tc>
              </a:tr>
              <a:tr h="310896">
                <a:tc>
                  <a:txBody>
                    <a:bodyPr/>
                    <a:lstStyle/>
                    <a:p>
                      <a:pPr algn="l">
                        <a:defRPr sz="1800"/>
                      </a:pPr>
                      <a:r>
                        <a:rPr b="1" sz="1100">
                          <a:latin typeface="Times New Roman"/>
                          <a:ea typeface="Times New Roman"/>
                          <a:cs typeface="Times New Roman"/>
                          <a:sym typeface="Times New Roman"/>
                        </a:rPr>
                        <a:t>Python</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core implementation language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310896">
                <a:tc>
                  <a:txBody>
                    <a:bodyPr/>
                    <a:lstStyle/>
                    <a:p>
                      <a:pPr algn="l">
                        <a:defRPr sz="1800"/>
                      </a:pPr>
                      <a:r>
                        <a:rPr b="1" sz="1100">
                          <a:latin typeface="Times New Roman"/>
                          <a:ea typeface="Times New Roman"/>
                          <a:cs typeface="Times New Roman"/>
                          <a:sym typeface="Times New Roman"/>
                        </a:rPr>
                        <a:t>LangGraph</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controllable perceive–plan–act–reason agent loop</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310896">
                <a:tc>
                  <a:txBody>
                    <a:bodyPr/>
                    <a:lstStyle/>
                    <a:p>
                      <a:pPr algn="l">
                        <a:defRPr sz="1800"/>
                      </a:pPr>
                      <a:r>
                        <a:rPr b="1" sz="1100">
                          <a:latin typeface="Times New Roman"/>
                          <a:ea typeface="Times New Roman"/>
                          <a:cs typeface="Times New Roman"/>
                          <a:sym typeface="Times New Roman"/>
                        </a:rPr>
                        <a:t>API LLM (GPT-4o-mini / Gemini / Groq)</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agent reasoning — no local GPU required</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310896">
                <a:tc>
                  <a:txBody>
                    <a:bodyPr/>
                    <a:lstStyle/>
                    <a:p>
                      <a:pPr algn="l">
                        <a:defRPr sz="1800"/>
                      </a:pPr>
                      <a:r>
                        <a:rPr b="1" sz="1100">
                          <a:latin typeface="Times New Roman"/>
                          <a:ea typeface="Times New Roman"/>
                          <a:cs typeface="Times New Roman"/>
                          <a:sym typeface="Times New Roman"/>
                        </a:rPr>
                        <a:t>Sentence-Transformers + FAISS</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embed &amp; retrieve similar past changes (RAG tool)</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310896">
                <a:tc>
                  <a:txBody>
                    <a:bodyPr/>
                    <a:lstStyle/>
                    <a:p>
                      <a:pPr algn="l">
                        <a:defRPr sz="1800"/>
                      </a:pPr>
                      <a:r>
                        <a:rPr b="1" sz="1100">
                          <a:latin typeface="Times New Roman"/>
                          <a:ea typeface="Times New Roman"/>
                          <a:cs typeface="Times New Roman"/>
                          <a:sym typeface="Times New Roman"/>
                        </a:rPr>
                        <a:t>DeBERTa-v3-small (NLI)</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verify justifications are grounded in evidence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310896">
                <a:tc>
                  <a:txBody>
                    <a:bodyPr/>
                    <a:lstStyle/>
                    <a:p>
                      <a:pPr algn="l">
                        <a:defRPr sz="1800"/>
                      </a:pPr>
                      <a:r>
                        <a:rPr b="1" sz="1100">
                          <a:latin typeface="Times New Roman"/>
                          <a:ea typeface="Times New Roman"/>
                          <a:cs typeface="Times New Roman"/>
                          <a:sym typeface="Times New Roman"/>
                        </a:rPr>
                        <a:t>FastAPI + Streamlit</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mock enterprise tools, dashboard &amp; evidence trail</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bl>
          </a:graphicData>
        </a:graphic>
      </p:graphicFrame>
      <p:sp>
        <p:nvSpPr>
          <p:cNvPr id="45" name="Text 5"/>
          <p:cNvSpPr txBox="1"/>
          <p:nvPr/>
        </p:nvSpPr>
        <p:spPr>
          <a:xfrm>
            <a:off x="8435589" y="1441432"/>
            <a:ext cx="3657601" cy="2078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EXPECTED OUTCOMES</a:t>
            </a:r>
          </a:p>
        </p:txBody>
      </p:sp>
      <p:sp>
        <p:nvSpPr>
          <p:cNvPr id="46" name="Text 6"/>
          <p:cNvSpPr txBox="1"/>
          <p:nvPr/>
        </p:nvSpPr>
        <p:spPr>
          <a:xfrm>
            <a:off x="8618469" y="2097841"/>
            <a:ext cx="3291841" cy="2357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ct val="104999"/>
              </a:lnSpc>
              <a:spcBef>
                <a:spcPts val="1200"/>
              </a:spcBef>
              <a:buSzPct val="100000"/>
              <a:buChar char="•"/>
              <a:defRPr sz="1300">
                <a:latin typeface="Times New Roman"/>
                <a:ea typeface="Times New Roman"/>
                <a:cs typeface="Times New Roman"/>
                <a:sym typeface="Times New Roman"/>
              </a:defRPr>
            </a:pPr>
            <a:r>
              <a:t>Working agentic prototype that assists CAB decisions with cited evidence.</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Measurable lift of agent-with-tools over a plain LLM on risk-ranking and decision accuracy.</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High justification-faithfulness via the verification layer.</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A reusable benchmark and a publishable workshop paper.</a:t>
            </a:r>
          </a:p>
        </p:txBody>
      </p:sp>
      <p:sp>
        <p:nvSpPr>
          <p:cNvPr id="47" name="Text 7"/>
          <p:cNvSpPr txBox="1"/>
          <p:nvPr/>
        </p:nvSpPr>
        <p:spPr>
          <a:xfrm>
            <a:off x="11429999" y="6400226"/>
            <a:ext cx="548642"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latin typeface="Times New Roman"/>
                <a:ea typeface="Times New Roman"/>
                <a:cs typeface="Times New Roman"/>
                <a:sym typeface="Times New Roman"/>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 name="Text 0"/>
          <p:cNvSpPr txBox="1"/>
          <p:nvPr/>
        </p:nvSpPr>
        <p:spPr>
          <a:xfrm>
            <a:off x="822960" y="496536"/>
            <a:ext cx="54864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latin typeface="Times New Roman"/>
                <a:ea typeface="Times New Roman"/>
                <a:cs typeface="Times New Roman"/>
                <a:sym typeface="Times New Roman"/>
              </a:defRPr>
            </a:lvl1pPr>
          </a:lstStyle>
          <a:p>
            <a:pPr/>
            <a:r>
              <a:t>PROJECT 2</a:t>
            </a:r>
          </a:p>
        </p:txBody>
      </p:sp>
      <p:sp>
        <p:nvSpPr>
          <p:cNvPr id="50" name="Text 1"/>
          <p:cNvSpPr txBox="1"/>
          <p:nvPr/>
        </p:nvSpPr>
        <p:spPr>
          <a:xfrm>
            <a:off x="822960" y="793460"/>
            <a:ext cx="10515601" cy="4156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latin typeface="Times New Roman"/>
                <a:ea typeface="Times New Roman"/>
                <a:cs typeface="Times New Roman"/>
                <a:sym typeface="Times New Roman"/>
              </a:defRPr>
            </a:lvl1pPr>
          </a:lstStyle>
          <a:p>
            <a:pPr/>
            <a:r>
              <a:t>RedTeamGPT</a:t>
            </a:r>
          </a:p>
        </p:txBody>
      </p:sp>
      <p:sp>
        <p:nvSpPr>
          <p:cNvPr id="51" name="Text 2"/>
          <p:cNvSpPr txBox="1"/>
          <p:nvPr/>
        </p:nvSpPr>
        <p:spPr>
          <a:xfrm>
            <a:off x="822960" y="1474944"/>
            <a:ext cx="105156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i="1" sz="1400">
                <a:latin typeface="Times New Roman"/>
                <a:ea typeface="Times New Roman"/>
                <a:cs typeface="Times New Roman"/>
                <a:sym typeface="Times New Roman"/>
              </a:defRPr>
            </a:lvl1pPr>
          </a:lstStyle>
          <a:p>
            <a:pPr/>
            <a:r>
              <a:t>An LLM-Based Adversarial Robustness Framework for Detecting and Evaluating Prompt Evasion Attacks in Enterprise LLM Systems</a:t>
            </a:r>
          </a:p>
        </p:txBody>
      </p:sp>
      <p:sp>
        <p:nvSpPr>
          <p:cNvPr id="52" name="Text 3"/>
          <p:cNvSpPr txBox="1"/>
          <p:nvPr/>
        </p:nvSpPr>
        <p:spPr>
          <a:xfrm>
            <a:off x="822960" y="2176015"/>
            <a:ext cx="10515601" cy="219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atin typeface="Times New Roman"/>
                <a:ea typeface="Times New Roman"/>
                <a:cs typeface="Times New Roman"/>
                <a:sym typeface="Times New Roman"/>
              </a:defRPr>
            </a:lvl1pPr>
          </a:lstStyle>
          <a:p>
            <a:pPr/>
            <a:r>
              <a:t>PROBLEM STATEMENT</a:t>
            </a:r>
          </a:p>
        </p:txBody>
      </p:sp>
      <p:sp>
        <p:nvSpPr>
          <p:cNvPr id="53" name="Text 4"/>
          <p:cNvSpPr txBox="1"/>
          <p:nvPr/>
        </p:nvSpPr>
        <p:spPr>
          <a:xfrm>
            <a:off x="822960" y="2570096"/>
            <a:ext cx="10515601" cy="6811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500">
                <a:latin typeface="Times New Roman"/>
                <a:ea typeface="Times New Roman"/>
                <a:cs typeface="Times New Roman"/>
                <a:sym typeface="Times New Roman"/>
              </a:defRPr>
            </a:lvl1pPr>
          </a:lstStyle>
          <a:p>
            <a:pPr/>
            <a:r>
              <a:t>Enterprise LLMs can be hijacked through their input. Jailbreaks bypass safety rules and prompt injection hides malicious instructions inside emails, tickets, or documents the model reads. Attackers evade naive keyword filters by rephrasing and obfuscating, so a defence must catch the intent, not the wording.</a:t>
            </a:r>
          </a:p>
        </p:txBody>
      </p:sp>
      <p:sp>
        <p:nvSpPr>
          <p:cNvPr id="54" name="Text 5"/>
          <p:cNvSpPr txBox="1"/>
          <p:nvPr/>
        </p:nvSpPr>
        <p:spPr>
          <a:xfrm>
            <a:off x="822960" y="3774169"/>
            <a:ext cx="10515601" cy="219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atin typeface="Times New Roman"/>
                <a:ea typeface="Times New Roman"/>
                <a:cs typeface="Times New Roman"/>
                <a:sym typeface="Times New Roman"/>
              </a:defRPr>
            </a:lvl1pPr>
          </a:lstStyle>
          <a:p>
            <a:pPr/>
            <a:r>
              <a:t>OBJECTIVES</a:t>
            </a:r>
          </a:p>
        </p:txBody>
      </p:sp>
      <p:sp>
        <p:nvSpPr>
          <p:cNvPr id="55" name="Text 6"/>
          <p:cNvSpPr txBox="1"/>
          <p:nvPr/>
        </p:nvSpPr>
        <p:spPr>
          <a:xfrm>
            <a:off x="914399" y="4362550"/>
            <a:ext cx="10332722" cy="129179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spcBef>
                <a:spcPts val="1200"/>
              </a:spcBef>
              <a:defRPr b="1" sz="1400">
                <a:latin typeface="Times New Roman"/>
                <a:ea typeface="Times New Roman"/>
                <a:cs typeface="Times New Roman"/>
                <a:sym typeface="Times New Roman"/>
              </a:defRPr>
            </a:pPr>
            <a:r>
              <a:t>•  Build a content-firewall detector — </a:t>
            </a:r>
            <a:r>
              <a:rPr b="0"/>
              <a:t>a lightweight classifier that flags malicious vs benign prompts before they reach the LLM.</a:t>
            </a:r>
          </a:p>
          <a:p>
            <a:pPr>
              <a:lnSpc>
                <a:spcPct val="104999"/>
              </a:lnSpc>
              <a:spcBef>
                <a:spcPts val="1200"/>
              </a:spcBef>
              <a:defRPr b="1" sz="1400">
                <a:latin typeface="Times New Roman"/>
                <a:ea typeface="Times New Roman"/>
                <a:cs typeface="Times New Roman"/>
                <a:sym typeface="Times New Roman"/>
              </a:defRPr>
            </a:pPr>
            <a:r>
              <a:t>•  Stress-test against evasion — </a:t>
            </a:r>
            <a:r>
              <a:rPr b="0"/>
              <a:t>generate paraphrased / obfuscated attack variants and measure the drop in detection.</a:t>
            </a:r>
          </a:p>
          <a:p>
            <a:pPr>
              <a:lnSpc>
                <a:spcPct val="104999"/>
              </a:lnSpc>
              <a:spcBef>
                <a:spcPts val="1200"/>
              </a:spcBef>
              <a:defRPr b="1" sz="1400">
                <a:latin typeface="Times New Roman"/>
                <a:ea typeface="Times New Roman"/>
                <a:cs typeface="Times New Roman"/>
                <a:sym typeface="Times New Roman"/>
              </a:defRPr>
            </a:pPr>
            <a:r>
              <a:t>•  Control false positives — </a:t>
            </a:r>
            <a:r>
              <a:rPr b="0"/>
              <a:t>evaluate on benign-but-unusual prompts, the real cause of unusable filters.</a:t>
            </a:r>
          </a:p>
          <a:p>
            <a:pPr>
              <a:lnSpc>
                <a:spcPct val="104999"/>
              </a:lnSpc>
              <a:spcBef>
                <a:spcPts val="1200"/>
              </a:spcBef>
              <a:defRPr b="1" sz="1400">
                <a:latin typeface="Times New Roman"/>
                <a:ea typeface="Times New Roman"/>
                <a:cs typeface="Times New Roman"/>
                <a:sym typeface="Times New Roman"/>
              </a:defRPr>
            </a:pPr>
            <a:r>
              <a:t>•  Deployable defence — </a:t>
            </a:r>
            <a:r>
              <a:rPr b="0"/>
              <a:t>keep the whole pipeline CPU-only, runnable on-prem for privacy-constrained clients.</a:t>
            </a:r>
          </a:p>
        </p:txBody>
      </p:sp>
      <p:sp>
        <p:nvSpPr>
          <p:cNvPr id="56" name="Text 7"/>
          <p:cNvSpPr txBox="1"/>
          <p:nvPr/>
        </p:nvSpPr>
        <p:spPr>
          <a:xfrm>
            <a:off x="11429999" y="6400226"/>
            <a:ext cx="548642"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latin typeface="Times New Roman"/>
                <a:ea typeface="Times New Roman"/>
                <a:cs typeface="Times New Roman"/>
                <a:sym typeface="Times New Roman"/>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 name="Text 0"/>
          <p:cNvSpPr txBox="1"/>
          <p:nvPr/>
        </p:nvSpPr>
        <p:spPr>
          <a:xfrm>
            <a:off x="822960" y="496536"/>
            <a:ext cx="7315201" cy="195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latin typeface="Times New Roman"/>
                <a:ea typeface="Times New Roman"/>
                <a:cs typeface="Times New Roman"/>
                <a:sym typeface="Times New Roman"/>
              </a:defRPr>
            </a:lvl1pPr>
          </a:lstStyle>
          <a:p>
            <a:pPr/>
            <a:r>
              <a:t>PROJECT 2 — REDTEAMGPT</a:t>
            </a:r>
          </a:p>
        </p:txBody>
      </p:sp>
      <p:sp>
        <p:nvSpPr>
          <p:cNvPr id="59" name="Text 1"/>
          <p:cNvSpPr txBox="1"/>
          <p:nvPr/>
        </p:nvSpPr>
        <p:spPr>
          <a:xfrm>
            <a:off x="822960" y="813432"/>
            <a:ext cx="10515601" cy="3299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latin typeface="Times New Roman"/>
                <a:ea typeface="Times New Roman"/>
                <a:cs typeface="Times New Roman"/>
                <a:sym typeface="Times New Roman"/>
              </a:defRPr>
            </a:lvl1pPr>
          </a:lstStyle>
          <a:p>
            <a:pPr/>
            <a:r>
              <a:t>DATASET, TECHNICAL STACK &amp; EXPECTED OUTCOMES</a:t>
            </a:r>
          </a:p>
        </p:txBody>
      </p:sp>
      <p:sp>
        <p:nvSpPr>
          <p:cNvPr id="60" name="Text 2"/>
          <p:cNvSpPr txBox="1"/>
          <p:nvPr/>
        </p:nvSpPr>
        <p:spPr>
          <a:xfrm>
            <a:off x="822960" y="1528255"/>
            <a:ext cx="5486401" cy="2078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DATASET</a:t>
            </a:r>
          </a:p>
        </p:txBody>
      </p:sp>
      <p:sp>
        <p:nvSpPr>
          <p:cNvPr id="61" name="Text 3"/>
          <p:cNvSpPr txBox="1"/>
          <p:nvPr/>
        </p:nvSpPr>
        <p:spPr>
          <a:xfrm>
            <a:off x="822959" y="1943972"/>
            <a:ext cx="7040882" cy="8528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8000"/>
              </a:lnSpc>
              <a:defRPr b="1" sz="1300">
                <a:latin typeface="Times New Roman"/>
                <a:ea typeface="Times New Roman"/>
                <a:cs typeface="Times New Roman"/>
                <a:sym typeface="Times New Roman"/>
              </a:defRPr>
            </a:pPr>
            <a:r>
              <a:t>Published attack corpora + curated benign set. </a:t>
            </a:r>
            <a:r>
              <a:rPr b="0"/>
              <a:t>Attacks from AdvBench, HarmBench, JailbreakBench (used as-is, no new attacks created); benign and hard-benign prompts from Alpaca / Dolly plus curated tricky-but-safe queries. Attack prompts are then paraphrased into evasion variants. This generated set directly tests the evasion-robustness objective.</a:t>
            </a:r>
          </a:p>
        </p:txBody>
      </p:sp>
      <p:sp>
        <p:nvSpPr>
          <p:cNvPr id="62" name="Text 4"/>
          <p:cNvSpPr txBox="1"/>
          <p:nvPr/>
        </p:nvSpPr>
        <p:spPr>
          <a:xfrm>
            <a:off x="822960" y="3195761"/>
            <a:ext cx="5486401" cy="2078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TECHNICAL STACK</a:t>
            </a:r>
          </a:p>
        </p:txBody>
      </p:sp>
      <p:graphicFrame>
        <p:nvGraphicFramePr>
          <p:cNvPr id="63" name="Table 0"/>
          <p:cNvGraphicFramePr/>
          <p:nvPr/>
        </p:nvGraphicFramePr>
        <p:xfrm>
          <a:off x="822960" y="3672711"/>
          <a:ext cx="7040881" cy="21945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3749040"/>
              </a:tblGrid>
              <a:tr h="274320">
                <a:tc>
                  <a:txBody>
                    <a:bodyPr/>
                    <a:lstStyle/>
                    <a:p>
                      <a:pPr algn="l">
                        <a:defRPr sz="1800"/>
                      </a:pPr>
                      <a:r>
                        <a:rPr b="1" sz="1100">
                          <a:solidFill>
                            <a:srgbClr val="FFFFFF"/>
                          </a:solidFill>
                          <a:latin typeface="Times New Roman"/>
                          <a:ea typeface="Times New Roman"/>
                          <a:cs typeface="Times New Roman"/>
                          <a:sym typeface="Times New Roman"/>
                        </a:rPr>
                        <a:t>Tool / Language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000000"/>
                    </a:solidFill>
                  </a:tcPr>
                </a:tc>
                <a:tc>
                  <a:txBody>
                    <a:bodyPr/>
                    <a:lstStyle/>
                    <a:p>
                      <a:pPr algn="l">
                        <a:defRPr sz="1800"/>
                      </a:pPr>
                      <a:r>
                        <a:rPr b="1" sz="1100">
                          <a:solidFill>
                            <a:srgbClr val="FFFFFF"/>
                          </a:solidFill>
                          <a:latin typeface="Times New Roman"/>
                          <a:ea typeface="Times New Roman"/>
                          <a:cs typeface="Times New Roman"/>
                          <a:sym typeface="Times New Roman"/>
                        </a:rPr>
                        <a:t>Usage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000000"/>
                    </a:solidFill>
                  </a:tcPr>
                </a:tc>
              </a:tr>
              <a:tr h="274320">
                <a:tc>
                  <a:txBody>
                    <a:bodyPr/>
                    <a:lstStyle/>
                    <a:p>
                      <a:pPr algn="l">
                        <a:defRPr sz="1800"/>
                      </a:pPr>
                      <a:r>
                        <a:rPr b="1" sz="1100">
                          <a:latin typeface="Times New Roman"/>
                          <a:ea typeface="Times New Roman"/>
                          <a:cs typeface="Times New Roman"/>
                          <a:sym typeface="Times New Roman"/>
                        </a:rPr>
                        <a:t>Python</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core implementation language</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HuggingFace Transformers</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fine-tune the detector model</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DistilBERT / MiniLM</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lightweight malicious-vs-benign classifier (CPU)</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DeBERTa-v3-small (NLI)</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optional semantic second-opinion layer</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API LLM / T5 paraphraser</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generate evasion variants of attacks</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scikit-learn</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metrics — ROC / AUC, precision, recall, F1</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r h="274320">
                <a:tc>
                  <a:txBody>
                    <a:bodyPr/>
                    <a:lstStyle/>
                    <a:p>
                      <a:pPr algn="l">
                        <a:defRPr sz="1800"/>
                      </a:pPr>
                      <a:r>
                        <a:rPr b="1" sz="1100">
                          <a:latin typeface="Times New Roman"/>
                          <a:ea typeface="Times New Roman"/>
                          <a:cs typeface="Times New Roman"/>
                          <a:sym typeface="Times New Roman"/>
                        </a:rPr>
                        <a:t>FastAPI + Streamlit</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c>
                  <a:txBody>
                    <a:bodyPr/>
                    <a:lstStyle/>
                    <a:p>
                      <a:pPr algn="l">
                        <a:defRPr sz="1800"/>
                      </a:pPr>
                      <a:r>
                        <a:rPr sz="1100">
                          <a:latin typeface="Times New Roman"/>
                          <a:ea typeface="Times New Roman"/>
                          <a:cs typeface="Times New Roman"/>
                          <a:sym typeface="Times New Roman"/>
                        </a:rPr>
                        <a:t>firewall endpoint + live attack/benign demo</a:t>
                      </a:r>
                    </a:p>
                  </a:txBody>
                  <a:tcPr marL="25400" marR="25400" marT="25400" marB="254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FFFFFF"/>
                    </a:solidFill>
                  </a:tcPr>
                </a:tc>
              </a:tr>
            </a:tbl>
          </a:graphicData>
        </a:graphic>
      </p:graphicFrame>
      <p:sp>
        <p:nvSpPr>
          <p:cNvPr id="64" name="Text 5"/>
          <p:cNvSpPr txBox="1"/>
          <p:nvPr/>
        </p:nvSpPr>
        <p:spPr>
          <a:xfrm>
            <a:off x="8229599" y="1528255"/>
            <a:ext cx="3657601" cy="2078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Times New Roman"/>
                <a:ea typeface="Times New Roman"/>
                <a:cs typeface="Times New Roman"/>
                <a:sym typeface="Times New Roman"/>
              </a:defRPr>
            </a:lvl1pPr>
          </a:lstStyle>
          <a:p>
            <a:pPr/>
            <a:r>
              <a:t>EXPECTED OUTCOMES</a:t>
            </a:r>
          </a:p>
        </p:txBody>
      </p:sp>
      <p:sp>
        <p:nvSpPr>
          <p:cNvPr id="65" name="Text 6"/>
          <p:cNvSpPr txBox="1"/>
          <p:nvPr/>
        </p:nvSpPr>
        <p:spPr>
          <a:xfrm>
            <a:off x="8412479" y="2120935"/>
            <a:ext cx="3291842" cy="2357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ct val="104999"/>
              </a:lnSpc>
              <a:spcBef>
                <a:spcPts val="1200"/>
              </a:spcBef>
              <a:buSzPct val="100000"/>
              <a:buChar char="•"/>
              <a:defRPr sz="1300">
                <a:latin typeface="Times New Roman"/>
                <a:ea typeface="Times New Roman"/>
                <a:cs typeface="Times New Roman"/>
                <a:sym typeface="Times New Roman"/>
              </a:defRPr>
            </a:pPr>
            <a:r>
              <a:t>A deployable CPU-only prompt-injection detector (content firewall).</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The detection-rate vs false-positive-rate tradeoff on hard benign prompts, the headline result.</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A measured robustness gap between verbatim and paraphrased attacks.</a:t>
            </a:r>
          </a:p>
          <a:p>
            <a:pPr marL="342900" indent="-342900">
              <a:lnSpc>
                <a:spcPct val="104999"/>
              </a:lnSpc>
              <a:spcBef>
                <a:spcPts val="1200"/>
              </a:spcBef>
              <a:buSzPct val="100000"/>
              <a:buChar char="•"/>
              <a:defRPr sz="1300">
                <a:latin typeface="Times New Roman"/>
                <a:ea typeface="Times New Roman"/>
                <a:cs typeface="Times New Roman"/>
                <a:sym typeface="Times New Roman"/>
              </a:defRPr>
            </a:pPr>
            <a:r>
              <a:t>Clean ROC/AUC evidence and a publishable workshop paper.</a:t>
            </a:r>
          </a:p>
        </p:txBody>
      </p:sp>
      <p:sp>
        <p:nvSpPr>
          <p:cNvPr id="66" name="Text 7"/>
          <p:cNvSpPr txBox="1"/>
          <p:nvPr/>
        </p:nvSpPr>
        <p:spPr>
          <a:xfrm>
            <a:off x="11429999" y="6400226"/>
            <a:ext cx="548642" cy="1840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latin typeface="Times New Roman"/>
                <a:ea typeface="Times New Roman"/>
                <a:cs typeface="Times New Roman"/>
                <a:sym typeface="Times New Roman"/>
              </a:defRPr>
            </a:lvl1pPr>
          </a:lstStyle>
          <a:p>
            <a:pPr/>
            <a:r>
              <a:t>5</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